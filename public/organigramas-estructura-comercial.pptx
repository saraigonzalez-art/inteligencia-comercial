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3244f15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63244f15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510d3d1b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2d510d3d1b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C1DF87"/>
          </a:solidFill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3238500" y="356500"/>
            <a:ext cx="4960500" cy="57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O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VP Canales Presenciales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25150" y="1288825"/>
            <a:ext cx="2320500" cy="70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Inteligencia</a:t>
            </a:r>
            <a:r>
              <a:rPr b="1" lang="es-CO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Comercial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672651" y="3131025"/>
            <a:ext cx="21903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Bogotá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289321" y="3135550"/>
            <a:ext cx="14001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Antioquia 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2440587" y="3135550"/>
            <a:ext cx="17526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Caribe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583876" y="3131025"/>
            <a:ext cx="17526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Centro</a:t>
            </a:r>
            <a:endParaRPr sz="2300">
              <a:solidFill>
                <a:srgbClr val="FFFFFF"/>
              </a:solidFill>
            </a:endParaRPr>
          </a:p>
        </p:txBody>
      </p:sp>
      <p:cxnSp>
        <p:nvCxnSpPr>
          <p:cNvPr id="101" name="Google Shape;101;p13"/>
          <p:cNvCxnSpPr>
            <a:stCxn id="96" idx="3"/>
            <a:endCxn id="95" idx="2"/>
          </p:cNvCxnSpPr>
          <p:nvPr/>
        </p:nvCxnSpPr>
        <p:spPr>
          <a:xfrm flipH="1" rot="10800000">
            <a:off x="3545650" y="936475"/>
            <a:ext cx="2173200" cy="7026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95" idx="2"/>
            <a:endCxn id="103" idx="0"/>
          </p:cNvCxnSpPr>
          <p:nvPr/>
        </p:nvCxnSpPr>
        <p:spPr>
          <a:xfrm rot="5400000">
            <a:off x="4382700" y="1794850"/>
            <a:ext cx="2194500" cy="477600"/>
          </a:xfrm>
          <a:prstGeom prst="bentConnector3">
            <a:avLst>
              <a:gd fmla="val 6434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3"/>
          <p:cNvSpPr/>
          <p:nvPr/>
        </p:nvSpPr>
        <p:spPr>
          <a:xfrm>
            <a:off x="4325360" y="3131013"/>
            <a:ext cx="18318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Occidente</a:t>
            </a:r>
            <a:endParaRPr sz="2300">
              <a:solidFill>
                <a:srgbClr val="FFFFFF"/>
              </a:solidFill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 flipH="1">
            <a:off x="3328012" y="2348625"/>
            <a:ext cx="2608500" cy="782400"/>
          </a:xfrm>
          <a:prstGeom prst="bentConnector3">
            <a:avLst>
              <a:gd fmla="val 10055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3"/>
          <p:cNvCxnSpPr>
            <a:endCxn id="100" idx="0"/>
          </p:cNvCxnSpPr>
          <p:nvPr/>
        </p:nvCxnSpPr>
        <p:spPr>
          <a:xfrm flipH="1">
            <a:off x="1460176" y="2348625"/>
            <a:ext cx="2556600" cy="7824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3"/>
          <p:cNvCxnSpPr/>
          <p:nvPr/>
        </p:nvCxnSpPr>
        <p:spPr>
          <a:xfrm rot="10800000">
            <a:off x="5554784" y="2348771"/>
            <a:ext cx="2004900" cy="782100"/>
          </a:xfrm>
          <a:prstGeom prst="bentConnector3">
            <a:avLst>
              <a:gd fmla="val 2547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/>
          <p:nvPr/>
        </p:nvCxnSpPr>
        <p:spPr>
          <a:xfrm rot="10800000">
            <a:off x="6289340" y="2348621"/>
            <a:ext cx="4443000" cy="782400"/>
          </a:xfrm>
          <a:prstGeom prst="bentConnector3">
            <a:avLst>
              <a:gd fmla="val -75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3"/>
          <p:cNvCxnSpPr>
            <a:stCxn id="109" idx="0"/>
            <a:endCxn id="100" idx="2"/>
          </p:cNvCxnSpPr>
          <p:nvPr/>
        </p:nvCxnSpPr>
        <p:spPr>
          <a:xfrm rot="-5400000">
            <a:off x="1202775" y="4089050"/>
            <a:ext cx="515400" cy="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3"/>
          <p:cNvSpPr/>
          <p:nvPr/>
        </p:nvSpPr>
        <p:spPr>
          <a:xfrm>
            <a:off x="583875" y="4347050"/>
            <a:ext cx="1752600" cy="12720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Bucaramanga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Ibagué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Neiva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Cúcuta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Villavicencio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2440575" y="4360500"/>
            <a:ext cx="1752600" cy="15249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Cartagena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Barranquilla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Montería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Valledupar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Sincelejo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Santa Marta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4339063" y="4347050"/>
            <a:ext cx="1752600" cy="1009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Cali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Pasto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094250" y="4413000"/>
            <a:ext cx="1578300" cy="10878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Pereira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Armenia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Manizales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786650" y="4347050"/>
            <a:ext cx="2004900" cy="17070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Of. Pasadena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Of. Occidente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Of. Oriente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Of. Norte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Boyaca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Of. Fidelización.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574400" y="6134575"/>
            <a:ext cx="8794800" cy="579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Canales de Ventas: Agentes y Agencias - Grupos </a:t>
            </a:r>
            <a:r>
              <a:rPr b="1" lang="es-CO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homogéneos</a:t>
            </a:r>
            <a:r>
              <a:rPr b="1" lang="es-CO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b="1" lang="es-CO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Sinergia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3"/>
          <p:cNvCxnSpPr/>
          <p:nvPr/>
        </p:nvCxnSpPr>
        <p:spPr>
          <a:xfrm rot="-5400000">
            <a:off x="3059175" y="4097975"/>
            <a:ext cx="515400" cy="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3"/>
          <p:cNvCxnSpPr/>
          <p:nvPr/>
        </p:nvCxnSpPr>
        <p:spPr>
          <a:xfrm rot="-5400000">
            <a:off x="4983538" y="4097975"/>
            <a:ext cx="515400" cy="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3"/>
          <p:cNvCxnSpPr/>
          <p:nvPr/>
        </p:nvCxnSpPr>
        <p:spPr>
          <a:xfrm rot="-5400000">
            <a:off x="6731675" y="4089050"/>
            <a:ext cx="515400" cy="600"/>
          </a:xfrm>
          <a:prstGeom prst="bentConnector3">
            <a:avLst>
              <a:gd fmla="val 5225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3"/>
          <p:cNvCxnSpPr/>
          <p:nvPr/>
        </p:nvCxnSpPr>
        <p:spPr>
          <a:xfrm rot="-5400000">
            <a:off x="10575375" y="4097975"/>
            <a:ext cx="515400" cy="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3"/>
          <p:cNvCxnSpPr/>
          <p:nvPr/>
        </p:nvCxnSpPr>
        <p:spPr>
          <a:xfrm flipH="1" rot="5400000">
            <a:off x="7413515" y="1737371"/>
            <a:ext cx="782100" cy="20049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3"/>
          <p:cNvSpPr/>
          <p:nvPr/>
        </p:nvSpPr>
        <p:spPr>
          <a:xfrm>
            <a:off x="7951275" y="3135550"/>
            <a:ext cx="1543200" cy="6438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Regional Eje Cafetero</a:t>
            </a:r>
            <a:endParaRPr sz="2300">
              <a:solidFill>
                <a:srgbClr val="FFFFFF"/>
              </a:solidFill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 rot="-5400000">
            <a:off x="8653525" y="4095813"/>
            <a:ext cx="515400" cy="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3"/>
          <p:cNvSpPr/>
          <p:nvPr/>
        </p:nvSpPr>
        <p:spPr>
          <a:xfrm>
            <a:off x="6198675" y="4355973"/>
            <a:ext cx="1752600" cy="9414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Medellín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4102050" y="203300"/>
            <a:ext cx="3233400" cy="785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700">
                <a:solidFill>
                  <a:schemeClr val="dk1"/>
                </a:solidFill>
              </a:rPr>
              <a:t>Jefatura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700">
                <a:solidFill>
                  <a:schemeClr val="dk1"/>
                </a:solidFill>
              </a:rPr>
              <a:t>de </a:t>
            </a:r>
            <a:r>
              <a:rPr b="1" lang="es-CO" sz="1700">
                <a:solidFill>
                  <a:schemeClr val="dk1"/>
                </a:solidFill>
              </a:rPr>
              <a:t>Inteligencia Comercial</a:t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4558500" y="1312250"/>
            <a:ext cx="2320500" cy="700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Jefe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Bryam Cardenas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4558496" y="2621775"/>
            <a:ext cx="23205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Gestor de Inteligencia Comercial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59826" y="2639925"/>
            <a:ext cx="17526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Especialistas</a:t>
            </a:r>
            <a:endParaRPr sz="2300">
              <a:solidFill>
                <a:srgbClr val="FFFFFF"/>
              </a:solidFill>
            </a:endParaRPr>
          </a:p>
        </p:txBody>
      </p:sp>
      <p:cxnSp>
        <p:nvCxnSpPr>
          <p:cNvPr id="131" name="Google Shape;131;p14"/>
          <p:cNvCxnSpPr>
            <a:stCxn id="127" idx="2"/>
            <a:endCxn id="128" idx="0"/>
          </p:cNvCxnSpPr>
          <p:nvPr/>
        </p:nvCxnSpPr>
        <p:spPr>
          <a:xfrm flipH="1" rot="-5400000">
            <a:off x="5557350" y="1150400"/>
            <a:ext cx="323400" cy="6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4"/>
          <p:cNvSpPr/>
          <p:nvPr/>
        </p:nvSpPr>
        <p:spPr>
          <a:xfrm>
            <a:off x="9723772" y="2621775"/>
            <a:ext cx="18318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Asesor de Gerencia</a:t>
            </a:r>
            <a:endParaRPr sz="2300">
              <a:solidFill>
                <a:srgbClr val="FFFFFF"/>
              </a:solidFill>
            </a:endParaRPr>
          </a:p>
        </p:txBody>
      </p:sp>
      <p:cxnSp>
        <p:nvCxnSpPr>
          <p:cNvPr id="133" name="Google Shape;133;p14"/>
          <p:cNvCxnSpPr>
            <a:stCxn id="128" idx="2"/>
            <a:endCxn id="129" idx="0"/>
          </p:cNvCxnSpPr>
          <p:nvPr/>
        </p:nvCxnSpPr>
        <p:spPr>
          <a:xfrm flipH="1" rot="-5400000">
            <a:off x="5414550" y="2316950"/>
            <a:ext cx="609000" cy="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14"/>
          <p:cNvCxnSpPr>
            <a:stCxn id="128" idx="2"/>
            <a:endCxn id="130" idx="0"/>
          </p:cNvCxnSpPr>
          <p:nvPr/>
        </p:nvCxnSpPr>
        <p:spPr>
          <a:xfrm rot="5400000">
            <a:off x="3263850" y="185150"/>
            <a:ext cx="627300" cy="42825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14"/>
          <p:cNvCxnSpPr>
            <a:stCxn id="136" idx="0"/>
            <a:endCxn id="130" idx="2"/>
          </p:cNvCxnSpPr>
          <p:nvPr/>
        </p:nvCxnSpPr>
        <p:spPr>
          <a:xfrm rot="-5400000">
            <a:off x="1128175" y="3648325"/>
            <a:ext cx="6165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4"/>
          <p:cNvSpPr/>
          <p:nvPr/>
        </p:nvSpPr>
        <p:spPr>
          <a:xfrm>
            <a:off x="339925" y="3956875"/>
            <a:ext cx="2192400" cy="13974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-Laura Joya -Esp. Relacionamiento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-Daniel Alejandro Ramirez -Esp. </a:t>
            </a: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Análisis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448175" y="3951500"/>
            <a:ext cx="1752600" cy="7857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Cesar Paramo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Ingrid Zamora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9794325" y="4118450"/>
            <a:ext cx="1752600" cy="700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Lina Castillo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14"/>
          <p:cNvCxnSpPr>
            <a:stCxn id="140" idx="0"/>
          </p:cNvCxnSpPr>
          <p:nvPr/>
        </p:nvCxnSpPr>
        <p:spPr>
          <a:xfrm flipH="1" rot="5400000">
            <a:off x="6018900" y="2679800"/>
            <a:ext cx="261000" cy="21924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4"/>
          <p:cNvCxnSpPr>
            <a:endCxn id="132" idx="2"/>
          </p:cNvCxnSpPr>
          <p:nvPr/>
        </p:nvCxnSpPr>
        <p:spPr>
          <a:xfrm rot="-5400000">
            <a:off x="10267522" y="3693825"/>
            <a:ext cx="743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4"/>
          <p:cNvCxnSpPr>
            <a:stCxn id="128" idx="2"/>
            <a:endCxn id="132" idx="0"/>
          </p:cNvCxnSpPr>
          <p:nvPr/>
        </p:nvCxnSpPr>
        <p:spPr>
          <a:xfrm flipH="1" rot="-5400000">
            <a:off x="7874700" y="-143200"/>
            <a:ext cx="609000" cy="49209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4"/>
          <p:cNvSpPr/>
          <p:nvPr/>
        </p:nvSpPr>
        <p:spPr>
          <a:xfrm>
            <a:off x="3023075" y="5236250"/>
            <a:ext cx="2602800" cy="579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Canal de Ventas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Agentes y Agencias 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842950" y="5236250"/>
            <a:ext cx="2805300" cy="579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Canal de Ventas 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Grupos homogéneos 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146250" y="3906500"/>
            <a:ext cx="2198700" cy="8757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Michael Moreno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Maria Paula Tinjaca</a:t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" name="Google Shape;145;p14"/>
          <p:cNvCxnSpPr>
            <a:stCxn id="137" idx="0"/>
            <a:endCxn id="129" idx="2"/>
          </p:cNvCxnSpPr>
          <p:nvPr/>
        </p:nvCxnSpPr>
        <p:spPr>
          <a:xfrm rot="-5400000">
            <a:off x="4707125" y="2939750"/>
            <a:ext cx="629100" cy="13944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4"/>
          <p:cNvCxnSpPr>
            <a:stCxn id="144" idx="0"/>
            <a:endCxn id="140" idx="2"/>
          </p:cNvCxnSpPr>
          <p:nvPr/>
        </p:nvCxnSpPr>
        <p:spPr>
          <a:xfrm rot="-5400000">
            <a:off x="7018800" y="5008850"/>
            <a:ext cx="454200" cy="6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4"/>
          <p:cNvCxnSpPr>
            <a:stCxn id="143" idx="0"/>
            <a:endCxn id="137" idx="2"/>
          </p:cNvCxnSpPr>
          <p:nvPr/>
        </p:nvCxnSpPr>
        <p:spPr>
          <a:xfrm rot="-5400000">
            <a:off x="4075325" y="4986500"/>
            <a:ext cx="498900" cy="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4"/>
          <p:cNvCxnSpPr>
            <a:stCxn id="138" idx="2"/>
            <a:endCxn id="144" idx="3"/>
          </p:cNvCxnSpPr>
          <p:nvPr/>
        </p:nvCxnSpPr>
        <p:spPr>
          <a:xfrm rot="5400000">
            <a:off x="9305775" y="4161500"/>
            <a:ext cx="707400" cy="20223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4"/>
          <p:cNvCxnSpPr>
            <a:stCxn id="143" idx="1"/>
            <a:endCxn id="136" idx="2"/>
          </p:cNvCxnSpPr>
          <p:nvPr/>
        </p:nvCxnSpPr>
        <p:spPr>
          <a:xfrm rot="10800000">
            <a:off x="1436075" y="5354300"/>
            <a:ext cx="1587000" cy="1719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4"/>
          <p:cNvCxnSpPr>
            <a:stCxn id="151" idx="0"/>
            <a:endCxn id="144" idx="2"/>
          </p:cNvCxnSpPr>
          <p:nvPr/>
        </p:nvCxnSpPr>
        <p:spPr>
          <a:xfrm flipH="1" rot="5400000">
            <a:off x="7502700" y="5559050"/>
            <a:ext cx="190500" cy="704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4"/>
          <p:cNvSpPr/>
          <p:nvPr/>
        </p:nvSpPr>
        <p:spPr>
          <a:xfrm>
            <a:off x="6939150" y="6006650"/>
            <a:ext cx="2022300" cy="70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William Camacho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Gerente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2572475" y="6022100"/>
            <a:ext cx="1752600" cy="70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Santiago Prada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Gerente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" name="Google Shape;153;p14"/>
          <p:cNvCxnSpPr>
            <a:stCxn id="152" idx="0"/>
            <a:endCxn id="143" idx="2"/>
          </p:cNvCxnSpPr>
          <p:nvPr/>
        </p:nvCxnSpPr>
        <p:spPr>
          <a:xfrm rot="-5400000">
            <a:off x="3783725" y="5481350"/>
            <a:ext cx="205800" cy="875700"/>
          </a:xfrm>
          <a:prstGeom prst="bentConnector3">
            <a:avLst>
              <a:gd fmla="val 5003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4"/>
          <p:cNvCxnSpPr>
            <a:stCxn id="152" idx="3"/>
            <a:endCxn id="151" idx="1"/>
          </p:cNvCxnSpPr>
          <p:nvPr/>
        </p:nvCxnSpPr>
        <p:spPr>
          <a:xfrm flipH="1" rot="10800000">
            <a:off x="4325075" y="6357050"/>
            <a:ext cx="2614200" cy="153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4"/>
          <p:cNvCxnSpPr>
            <a:stCxn id="156" idx="1"/>
            <a:endCxn id="152" idx="1"/>
          </p:cNvCxnSpPr>
          <p:nvPr/>
        </p:nvCxnSpPr>
        <p:spPr>
          <a:xfrm>
            <a:off x="420263" y="697825"/>
            <a:ext cx="2152200" cy="5674500"/>
          </a:xfrm>
          <a:prstGeom prst="bentConnector3">
            <a:avLst>
              <a:gd fmla="val -11064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4"/>
          <p:cNvSpPr/>
          <p:nvPr/>
        </p:nvSpPr>
        <p:spPr>
          <a:xfrm>
            <a:off x="420263" y="154225"/>
            <a:ext cx="2602800" cy="108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O" sz="2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VP Canales Presenciales</a:t>
            </a:r>
            <a:endParaRPr b="1" sz="2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Camilo Hernandez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57" name="Google Shape;157;p14"/>
          <p:cNvCxnSpPr>
            <a:stCxn id="156" idx="3"/>
            <a:endCxn id="127" idx="1"/>
          </p:cNvCxnSpPr>
          <p:nvPr/>
        </p:nvCxnSpPr>
        <p:spPr>
          <a:xfrm flipH="1" rot="10800000">
            <a:off x="3023063" y="596125"/>
            <a:ext cx="1079100" cy="101700"/>
          </a:xfrm>
          <a:prstGeom prst="bentConnector3">
            <a:avLst>
              <a:gd fmla="val 5585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4"/>
          <p:cNvSpPr/>
          <p:nvPr/>
        </p:nvSpPr>
        <p:spPr>
          <a:xfrm>
            <a:off x="5179492" y="6066950"/>
            <a:ext cx="1079100" cy="579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Sinergia</a:t>
            </a:r>
            <a:r>
              <a:rPr b="1" lang="es-C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/>
        </p:nvSpPr>
        <p:spPr>
          <a:xfrm>
            <a:off x="3891942" y="-1"/>
            <a:ext cx="4877700" cy="523200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Canal Agentes y Agencias</a:t>
            </a:r>
            <a:endParaRPr b="1" i="0" sz="2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2064903" y="840053"/>
            <a:ext cx="7932900" cy="523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Gerente Regional o Gerente de Departamento</a:t>
            </a:r>
            <a:endParaRPr b="1" i="0" sz="2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4795276" y="1605195"/>
            <a:ext cx="3071100" cy="52320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Directora Oficina</a:t>
            </a:r>
            <a:endParaRPr b="1" i="0" sz="2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835619" y="2656305"/>
            <a:ext cx="3071100" cy="138540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Directores de Grupo / Gestores Senior</a:t>
            </a:r>
            <a:endParaRPr b="1" i="0" sz="2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799503" y="2633755"/>
            <a:ext cx="3071100" cy="95430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Directores Especializados</a:t>
            </a:r>
            <a:endParaRPr b="1" i="0" sz="2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68" name="Google Shape;168;p15"/>
          <p:cNvCxnSpPr>
            <a:stCxn id="166" idx="0"/>
            <a:endCxn id="165" idx="2"/>
          </p:cNvCxnSpPr>
          <p:nvPr/>
        </p:nvCxnSpPr>
        <p:spPr>
          <a:xfrm rot="-5400000">
            <a:off x="4087019" y="412455"/>
            <a:ext cx="528000" cy="39597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5"/>
          <p:cNvCxnSpPr/>
          <p:nvPr/>
        </p:nvCxnSpPr>
        <p:spPr>
          <a:xfrm rot="10800000">
            <a:off x="6346900" y="2379325"/>
            <a:ext cx="4117500" cy="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6330778" y="548798"/>
            <a:ext cx="0" cy="29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10502617" y="3056415"/>
            <a:ext cx="0" cy="36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5"/>
          <p:cNvCxnSpPr>
            <a:stCxn id="166" idx="2"/>
            <a:endCxn id="173" idx="0"/>
          </p:cNvCxnSpPr>
          <p:nvPr/>
        </p:nvCxnSpPr>
        <p:spPr>
          <a:xfrm flipH="1">
            <a:off x="2370269" y="4041705"/>
            <a:ext cx="900" cy="23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5"/>
          <p:cNvSpPr txBox="1"/>
          <p:nvPr/>
        </p:nvSpPr>
        <p:spPr>
          <a:xfrm>
            <a:off x="834653" y="4273487"/>
            <a:ext cx="3071100" cy="954300"/>
          </a:xfrm>
          <a:prstGeom prst="rect">
            <a:avLst/>
          </a:prstGeom>
          <a:gradFill>
            <a:gsLst>
              <a:gs pos="0">
                <a:srgbClr val="EDDD60"/>
              </a:gs>
              <a:gs pos="100000">
                <a:srgbClr val="AE9D1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Intermediarios: Agentes y Agencias</a:t>
            </a:r>
            <a:endParaRPr b="1" i="0" sz="2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912859" y="4005104"/>
            <a:ext cx="3071100" cy="400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GENERALES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89470" y="2656305"/>
            <a:ext cx="1959900" cy="400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PROMOTOR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4872900" y="4644015"/>
            <a:ext cx="3071100" cy="400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ARL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891601" y="5183981"/>
            <a:ext cx="3071100" cy="7080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ESPECIALIZADO SALUD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4888283" y="6040816"/>
            <a:ext cx="3071100" cy="7080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 ESPECIALIZADO DE TRANSPORTES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9489469" y="3352346"/>
            <a:ext cx="1959900" cy="400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GESTOR</a:t>
            </a:r>
            <a:endParaRPr b="1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80" name="Google Shape;180;p15"/>
          <p:cNvCxnSpPr/>
          <p:nvPr/>
        </p:nvCxnSpPr>
        <p:spPr>
          <a:xfrm>
            <a:off x="6335004" y="5847321"/>
            <a:ext cx="8400" cy="20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15"/>
          <p:cNvCxnSpPr/>
          <p:nvPr/>
        </p:nvCxnSpPr>
        <p:spPr>
          <a:xfrm>
            <a:off x="6343455" y="4405974"/>
            <a:ext cx="0" cy="23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5"/>
          <p:cNvSpPr txBox="1"/>
          <p:nvPr/>
        </p:nvSpPr>
        <p:spPr>
          <a:xfrm>
            <a:off x="8113690" y="4273487"/>
            <a:ext cx="4078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Notas: </a:t>
            </a:r>
            <a:r>
              <a:rPr b="0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Localidad=  Oficina o Ciudad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Agencias estructuradas con Nit, Agentes pueden ser personas Naturales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Intermediarios Dependientes:  Bolívar asume prestaciones sociales.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 intermediarios no tienen bonificaciones pero si comisiones directas.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Algunas localidades no tiene director de Oficina, la estructura es administrada por el Gerente.</a:t>
            </a:r>
            <a:endParaRPr b="0" i="0" sz="1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83" name="Google Shape;183;p15"/>
          <p:cNvCxnSpPr/>
          <p:nvPr/>
        </p:nvCxnSpPr>
        <p:spPr>
          <a:xfrm flipH="1">
            <a:off x="6317834" y="2397137"/>
            <a:ext cx="4500" cy="24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5"/>
          <p:cNvCxnSpPr/>
          <p:nvPr/>
        </p:nvCxnSpPr>
        <p:spPr>
          <a:xfrm flipH="1">
            <a:off x="6343364" y="3578255"/>
            <a:ext cx="3300" cy="40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5"/>
          <p:cNvCxnSpPr/>
          <p:nvPr/>
        </p:nvCxnSpPr>
        <p:spPr>
          <a:xfrm>
            <a:off x="6330778" y="5006567"/>
            <a:ext cx="8400" cy="20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5"/>
          <p:cNvCxnSpPr>
            <a:stCxn id="164" idx="3"/>
            <a:endCxn id="175" idx="0"/>
          </p:cNvCxnSpPr>
          <p:nvPr/>
        </p:nvCxnSpPr>
        <p:spPr>
          <a:xfrm>
            <a:off x="9997803" y="1101653"/>
            <a:ext cx="471600" cy="1554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5"/>
          <p:cNvCxnSpPr>
            <a:stCxn id="164" idx="1"/>
          </p:cNvCxnSpPr>
          <p:nvPr/>
        </p:nvCxnSpPr>
        <p:spPr>
          <a:xfrm flipH="1">
            <a:off x="1899303" y="1101653"/>
            <a:ext cx="165600" cy="14994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15"/>
          <p:cNvCxnSpPr/>
          <p:nvPr/>
        </p:nvCxnSpPr>
        <p:spPr>
          <a:xfrm>
            <a:off x="6346665" y="1389177"/>
            <a:ext cx="0" cy="23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/>
        </p:nvSpPr>
        <p:spPr>
          <a:xfrm>
            <a:off x="3437351" y="155314"/>
            <a:ext cx="4877672" cy="523220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Canal Grupos Homogéneos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2305823" y="922226"/>
            <a:ext cx="7140727" cy="52322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Gerente Regional o Gerente de Departamento</a:t>
            </a:r>
            <a:endParaRPr b="1"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4340687" y="1699421"/>
            <a:ext cx="3071003" cy="52322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Comercial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502325" y="2738311"/>
            <a:ext cx="3606000" cy="83100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Ventas (Afines, Educadores, Salud y Vida.)</a:t>
            </a:r>
            <a:endParaRPr b="1"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6021129" y="2806844"/>
            <a:ext cx="3071100" cy="138540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Relacionamiento / conservación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98" name="Google Shape;198;p16"/>
          <p:cNvCxnSpPr>
            <a:stCxn id="196" idx="0"/>
            <a:endCxn id="195" idx="2"/>
          </p:cNvCxnSpPr>
          <p:nvPr/>
        </p:nvCxnSpPr>
        <p:spPr>
          <a:xfrm rot="-5400000">
            <a:off x="4332975" y="1194961"/>
            <a:ext cx="515700" cy="25710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6"/>
          <p:cNvCxnSpPr>
            <a:stCxn id="197" idx="0"/>
          </p:cNvCxnSpPr>
          <p:nvPr/>
        </p:nvCxnSpPr>
        <p:spPr>
          <a:xfrm flipH="1" rot="5400000">
            <a:off x="6380829" y="1630994"/>
            <a:ext cx="316800" cy="2034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6"/>
          <p:cNvCxnSpPr>
            <a:stCxn id="194" idx="2"/>
            <a:endCxn id="195" idx="0"/>
          </p:cNvCxnSpPr>
          <p:nvPr/>
        </p:nvCxnSpPr>
        <p:spPr>
          <a:xfrm>
            <a:off x="5876187" y="1445446"/>
            <a:ext cx="0" cy="25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6"/>
          <p:cNvCxnSpPr>
            <a:stCxn id="193" idx="2"/>
            <a:endCxn id="194" idx="0"/>
          </p:cNvCxnSpPr>
          <p:nvPr/>
        </p:nvCxnSpPr>
        <p:spPr>
          <a:xfrm>
            <a:off x="5876187" y="678534"/>
            <a:ext cx="0" cy="24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6"/>
          <p:cNvCxnSpPr/>
          <p:nvPr/>
        </p:nvCxnSpPr>
        <p:spPr>
          <a:xfrm>
            <a:off x="3305331" y="3753965"/>
            <a:ext cx="0" cy="24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6"/>
          <p:cNvSpPr txBox="1"/>
          <p:nvPr/>
        </p:nvSpPr>
        <p:spPr>
          <a:xfrm>
            <a:off x="6021129" y="4199592"/>
            <a:ext cx="3071003" cy="40011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Asesor de Relacionamiento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502325" y="6208801"/>
            <a:ext cx="110258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Nota: Toda la estructura tiene contrato </a:t>
            </a: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</a:t>
            </a: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con Bolívar y con tabla de bonificaciones</a:t>
            </a:r>
            <a:r>
              <a:rPr lang="es-CO"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sz="1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5" name="Google Shape;205;p16"/>
          <p:cNvCxnSpPr>
            <a:stCxn id="194" idx="3"/>
            <a:endCxn id="206" idx="0"/>
          </p:cNvCxnSpPr>
          <p:nvPr/>
        </p:nvCxnSpPr>
        <p:spPr>
          <a:xfrm>
            <a:off x="9446550" y="1183836"/>
            <a:ext cx="1401000" cy="2988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6"/>
          <p:cNvSpPr txBox="1"/>
          <p:nvPr/>
        </p:nvSpPr>
        <p:spPr>
          <a:xfrm>
            <a:off x="9849304" y="1482672"/>
            <a:ext cx="1996226" cy="400110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Satélite</a:t>
            </a:r>
            <a:endParaRPr b="1"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1502325" y="4183547"/>
            <a:ext cx="3606115" cy="1015663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Asesor de Ventas (Afines, Educadores, Pymes y Copropiedades, Arl)</a:t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8" name="Google Shape;208;p16"/>
          <p:cNvCxnSpPr>
            <a:stCxn id="197" idx="2"/>
            <a:endCxn id="203" idx="0"/>
          </p:cNvCxnSpPr>
          <p:nvPr/>
        </p:nvCxnSpPr>
        <p:spPr>
          <a:xfrm>
            <a:off x="7556679" y="4192244"/>
            <a:ext cx="0" cy="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6"/>
          <p:cNvCxnSpPr/>
          <p:nvPr/>
        </p:nvCxnSpPr>
        <p:spPr>
          <a:xfrm>
            <a:off x="10847417" y="1882782"/>
            <a:ext cx="0" cy="48765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6"/>
          <p:cNvSpPr txBox="1"/>
          <p:nvPr/>
        </p:nvSpPr>
        <p:spPr>
          <a:xfrm>
            <a:off x="9736429" y="2423244"/>
            <a:ext cx="2221977" cy="1015663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Ventas Afines-Educadores- o Mixtos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9736429" y="3460928"/>
            <a:ext cx="2221976" cy="738664"/>
          </a:xfrm>
          <a:prstGeom prst="rect">
            <a:avLst/>
          </a:prstGeom>
          <a:gradFill>
            <a:gsLst>
              <a:gs pos="0">
                <a:srgbClr val="B0D57B"/>
              </a:gs>
              <a:gs pos="100000">
                <a:srgbClr val="C8EE9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Solo para las Localidades de : Sincelejo, montería y Santa Marta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 rot="-5400000">
            <a:off x="281780" y="3615773"/>
            <a:ext cx="1781877" cy="369332"/>
          </a:xfrm>
          <a:prstGeom prst="rect">
            <a:avLst/>
          </a:prstGeom>
          <a:gradFill>
            <a:gsLst>
              <a:gs pos="0">
                <a:srgbClr val="B0D57B"/>
              </a:gs>
              <a:gs pos="100000">
                <a:srgbClr val="C8EE9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Nuevos Negocios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 rot="5400000">
            <a:off x="8651046" y="3548398"/>
            <a:ext cx="1505380" cy="369332"/>
          </a:xfrm>
          <a:prstGeom prst="rect">
            <a:avLst/>
          </a:prstGeom>
          <a:gradFill>
            <a:gsLst>
              <a:gs pos="0">
                <a:srgbClr val="B0D57B"/>
              </a:gs>
              <a:gs pos="100000">
                <a:srgbClr val="C8EE9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Renovaciones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/>
        </p:nvSpPr>
        <p:spPr>
          <a:xfrm>
            <a:off x="4485266" y="993298"/>
            <a:ext cx="2781837" cy="523220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Canal Sinergia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305823" y="2039738"/>
            <a:ext cx="7140727" cy="52322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Gerente Regional o Gerente de Departamento</a:t>
            </a:r>
            <a:endParaRPr b="1"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20" name="Google Shape;220;p17"/>
          <p:cNvCxnSpPr>
            <a:stCxn id="218" idx="2"/>
            <a:endCxn id="219" idx="0"/>
          </p:cNvCxnSpPr>
          <p:nvPr/>
        </p:nvCxnSpPr>
        <p:spPr>
          <a:xfrm>
            <a:off x="5876185" y="1516518"/>
            <a:ext cx="0" cy="5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7"/>
          <p:cNvSpPr txBox="1"/>
          <p:nvPr/>
        </p:nvSpPr>
        <p:spPr>
          <a:xfrm>
            <a:off x="2305823" y="5342451"/>
            <a:ext cx="8365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Nota:  Solo los Ejecutivos tiene contrato </a:t>
            </a: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</a:t>
            </a:r>
            <a:r>
              <a:rPr lang="es-CO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con Bolívar y con tabla de bonificaciones</a:t>
            </a:r>
            <a:r>
              <a:rPr lang="es-CO"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sz="1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4073128" y="3322590"/>
            <a:ext cx="3606000" cy="40020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Ejecutivo de Sinergia</a:t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23" name="Google Shape;223;p17"/>
          <p:cNvCxnSpPr>
            <a:stCxn id="219" idx="2"/>
            <a:endCxn id="222" idx="0"/>
          </p:cNvCxnSpPr>
          <p:nvPr/>
        </p:nvCxnSpPr>
        <p:spPr>
          <a:xfrm>
            <a:off x="5876187" y="2562958"/>
            <a:ext cx="0" cy="75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2588587" y="145031"/>
            <a:ext cx="6575197" cy="523220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Estructura Transversal de Canal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2305823" y="922226"/>
            <a:ext cx="7140727" cy="52322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Gerente Regional o Gerente de Departamento</a:t>
            </a:r>
            <a:endParaRPr b="1"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792699" y="2725432"/>
            <a:ext cx="3071003" cy="1384995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Directores Nacionales de Producto.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7411690" y="2819453"/>
            <a:ext cx="3071003" cy="954107"/>
          </a:xfrm>
          <a:prstGeom prst="rect">
            <a:avLst/>
          </a:prstGeom>
          <a:solidFill>
            <a:schemeClr val="accent4"/>
          </a:solidFill>
          <a:ln cap="flat" cmpd="sng" w="15875">
            <a:solidFill>
              <a:srgbClr val="946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Directores Especializados</a:t>
            </a:r>
            <a:endParaRPr b="1" sz="2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32" name="Google Shape;232;p18"/>
          <p:cNvCxnSpPr>
            <a:stCxn id="230" idx="0"/>
          </p:cNvCxnSpPr>
          <p:nvPr/>
        </p:nvCxnSpPr>
        <p:spPr>
          <a:xfrm rot="-5400000">
            <a:off x="3850851" y="699982"/>
            <a:ext cx="502800" cy="35481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8"/>
          <p:cNvCxnSpPr>
            <a:stCxn id="231" idx="0"/>
          </p:cNvCxnSpPr>
          <p:nvPr/>
        </p:nvCxnSpPr>
        <p:spPr>
          <a:xfrm flipH="1" rot="5400000">
            <a:off x="7112541" y="984803"/>
            <a:ext cx="598200" cy="30711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8"/>
          <p:cNvCxnSpPr>
            <a:stCxn id="229" idx="2"/>
          </p:cNvCxnSpPr>
          <p:nvPr/>
        </p:nvCxnSpPr>
        <p:spPr>
          <a:xfrm>
            <a:off x="5876187" y="1445446"/>
            <a:ext cx="0" cy="77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8"/>
          <p:cNvCxnSpPr>
            <a:stCxn id="228" idx="2"/>
            <a:endCxn id="229" idx="0"/>
          </p:cNvCxnSpPr>
          <p:nvPr/>
        </p:nvCxnSpPr>
        <p:spPr>
          <a:xfrm>
            <a:off x="5876186" y="668251"/>
            <a:ext cx="0" cy="25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8"/>
          <p:cNvCxnSpPr/>
          <p:nvPr/>
        </p:nvCxnSpPr>
        <p:spPr>
          <a:xfrm flipH="1">
            <a:off x="10012548" y="4800857"/>
            <a:ext cx="1" cy="23804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8"/>
          <p:cNvSpPr txBox="1"/>
          <p:nvPr/>
        </p:nvSpPr>
        <p:spPr>
          <a:xfrm>
            <a:off x="4869940" y="4357337"/>
            <a:ext cx="3071003" cy="40011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GENERALES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477053" y="4389314"/>
            <a:ext cx="3071003" cy="400110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ARL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869936" y="5008169"/>
            <a:ext cx="3071003" cy="707886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DIRECTOR DE ESPECIALIZADO SALUD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477053" y="5051235"/>
            <a:ext cx="3071003" cy="707886"/>
          </a:xfrm>
          <a:prstGeom prst="rect">
            <a:avLst/>
          </a:prstGeom>
          <a:gradFill>
            <a:gsLst>
              <a:gs pos="0">
                <a:srgbClr val="8DB878"/>
              </a:gs>
              <a:gs pos="100000">
                <a:srgbClr val="B0D7A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DIRECTO ESPECIALIZADO DE TRANSPORTES</a:t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41" name="Google Shape;241;p18"/>
          <p:cNvCxnSpPr/>
          <p:nvPr/>
        </p:nvCxnSpPr>
        <p:spPr>
          <a:xfrm flipH="1">
            <a:off x="6405438" y="4745833"/>
            <a:ext cx="1" cy="23804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8"/>
          <p:cNvCxnSpPr>
            <a:stCxn id="237" idx="0"/>
            <a:endCxn id="231" idx="2"/>
          </p:cNvCxnSpPr>
          <p:nvPr/>
        </p:nvCxnSpPr>
        <p:spPr>
          <a:xfrm rot="-5400000">
            <a:off x="7384342" y="2794637"/>
            <a:ext cx="583800" cy="254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8"/>
          <p:cNvCxnSpPr>
            <a:stCxn id="231" idx="2"/>
          </p:cNvCxnSpPr>
          <p:nvPr/>
        </p:nvCxnSpPr>
        <p:spPr>
          <a:xfrm flipH="1" rot="-5400000">
            <a:off x="9177442" y="3543310"/>
            <a:ext cx="597600" cy="1058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